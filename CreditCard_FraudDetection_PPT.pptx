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Class Distribution (Legitimate vs Fraud)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</c:v>
                  </c:pt>
                  <c:pt idx="1">
                    <c:v>Fraudulent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our project on Credit Card Fraud Detection. We applied mathematical and statistical methods on a real-world Kaggle dataset with 284,807 transactions, of which only 0.17% were fraudulent — making this a classic class imbalance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6 sections. Each covers a distinct mathematical or statistical technique applied to the fraud detection problem. The agenda gives you a roadmap of our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challenge is severe class imbalance — only 492 out of 284,807 transactions are fraud. Features V1 through V28 are PCA-transformed for privacy. Only 'Amount' and 'Time' are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data was surprisingly clean — no nulls, no duplicates. The biggest finding was the extreme class imbalance shown in the chart. We applied SMOTE (Synthetic Minority Over-sampling) to handle this before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applied Bayes' Theorem to compute the probability that a given transaction is fraudulent, given its feature values. With only a 0.17% prior probability, even a strong signal still needs careful calibration to avoid false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ran a two-sample Z-test because of our large sample size. The p-value is extremely small (essentially zero), so we reject the null hypothesis. Fraud transactions tend to be for lower amounts on average but with a wider spread — the statistical test confirmed the difference is not due to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was our primary model. With 99.94% accuracy it sounds impressive, but remember the imbalance — even a model predicting 'legitimate' every time would get ~99.83%. The real metrics are precision, recall, and AUC of 0.974, which are genuinely strong.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we applied 5 distinct mathematical and statistical techniques. Each contributed a unique lens — EDA for understanding, Bayes for probability modeling, hypothesis testing for significance, and logistic regression for prediction. The AUC of 0.974 is our headline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inviting questions. Highlight the AUC score and the three mathematical/statistical pillars: Bayesian probability, hypothesis testing, and logistic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E8A217">
              <a:alpha val="25000"/>
            </a:srgbClr>
          </a:solidFill>
          <a:ln w="6350">
            <a:solidFill>
              <a:srgbClr val="E8A21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474720"/>
            <a:ext cx="2743200" cy="2743200"/>
          </a:xfrm>
          <a:prstGeom prst="ellipse">
            <a:avLst/>
          </a:prstGeom>
          <a:solidFill>
            <a:srgbClr val="F5C04A">
              <a:alpha val="15000"/>
            </a:srgbClr>
          </a:solidFill>
          <a:ln w="6350">
            <a:solidFill>
              <a:srgbClr val="F5C04A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Mathematical &amp; Statistical Methods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E8A217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25MT1306E | KL University  •  Mathematics for Data Science &amp; Analytics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0058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1051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94360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228600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94360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in Dataset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5661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3611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4360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Applied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you through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44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44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fraud detection matters &amp; dataset overview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6334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633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907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patterns in 284K 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8221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8221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applied to fraud likelihood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28016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14447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1444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58968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58968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with Z-test &amp; confidence intervals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46888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26334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2633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907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for fraud prediction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38221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8221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58968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58968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model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Credit Card Fraud Detection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27632"/>
            <a:ext cx="256032" cy="256032"/>
          </a:xfrm>
          <a:prstGeom prst="ellipse">
            <a:avLst/>
          </a:prstGeom>
          <a:solidFill>
            <a:srgbClr val="E8A21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5453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credit card fraud losses exceed $32 billion annually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77440"/>
            <a:ext cx="256032" cy="256032"/>
          </a:xfrm>
          <a:prstGeom prst="ellipse">
            <a:avLst/>
          </a:prstGeom>
          <a:solidFill>
            <a:srgbClr val="E8A21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295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0.17% of transactions are fraudulent — extremely imbalanced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127248"/>
            <a:ext cx="256032" cy="256032"/>
          </a:xfrm>
          <a:prstGeom prst="ellipse">
            <a:avLst/>
          </a:prstGeom>
          <a:solidFill>
            <a:srgbClr val="E8A21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slow, expensive, and error-prone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12464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77056"/>
            <a:ext cx="256032" cy="256032"/>
          </a:xfrm>
          <a:prstGeom prst="ellipse">
            <a:avLst/>
          </a:prstGeom>
          <a:solidFill>
            <a:srgbClr val="E8A21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automated statistical models to detect fraud in real-time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57200"/>
            <a:ext cx="1371600" cy="9144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212080" y="146304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12080" y="14996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$32B+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212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Fraud Loss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212080" y="233172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212080" y="23682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21208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Our Dataset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212080" y="320040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212080" y="3236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V1–V28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212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PCA-Transformed Features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212080" y="406908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12080" y="4105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21208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EDA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revealed key patterns in the dataset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09728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28032" y="127101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4828032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5780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5780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284,807 rows complete — no imputation needed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2029968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8032" y="220370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828032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578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verified to have zero duplicate entries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29626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28032" y="3136392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4828032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5780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5780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applied to Amount &amp; Time features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3895344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28032" y="406908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4828032" y="4059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25780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5780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'Amount' &amp; 'Time'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— Computing posterior probability of fraud given transaction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503920" cy="960120"/>
          </a:xfrm>
          <a:prstGeom prst="roundRect">
            <a:avLst>
              <a:gd name="adj" fmla="val 11429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P(Fraud | Transaction) = [ P(Transaction | Fraud) × P(Fraud) ] / P(Transaction)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359152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59152"/>
            <a:ext cx="274320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Probability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P(Fraud) — base rate of fraud in the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0128" y="2359152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359152"/>
            <a:ext cx="2743200" cy="201168"/>
          </a:xfrm>
          <a:prstGeom prst="rect">
            <a:avLst/>
          </a:prstGeom>
          <a:solidFill>
            <a:srgbClr val="E8A217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P(X|F)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01568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P(Transaction | Fraud) — features given fraud class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4496" y="2359152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2359152"/>
            <a:ext cx="274320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5936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Alert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45936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 | Transaction) — final fraud probability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2359152"/>
            <a:ext cx="91440" cy="2468880"/>
          </a:xfrm>
          <a:prstGeom prst="roundRect">
            <a:avLst/>
          </a:prstGeom>
          <a:solidFill>
            <a:srgbClr val="E8A21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Inference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to determine if transaction amounts differ significantly between fraud and legitimate classes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Mean transaction amount for fraud = Mean for legitimate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Mean transaction amount for fraud ≠ Mean for legitimate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 α = 0.05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98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Z-Test Results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Fraud Amount: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$122.21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Legit. Amount: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$88.29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340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Z-Statistic: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42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642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 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503920" cy="1417320"/>
          </a:xfrm>
          <a:prstGeom prst="roundRect">
            <a:avLst>
              <a:gd name="adj" fmla="val 7742"/>
            </a:avLst>
          </a:prstGeom>
          <a:solidFill>
            <a:srgbClr val="10B981">
              <a:alpha val="1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93008"/>
            <a:ext cx="82296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Conclusion: We REJECT H₀ — Fraudulent transactions have statistically significantly higher amounts than legitimate ones (p &lt; 0.0001). Transaction amount is a meaningful predictor of fraud.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modeling the probability of a transaction being fraudulent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Equation: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P(Fraud = 1 | X) = 1 / [ 1 + e^−(β₀ + β₁V1 + β₂V2 + ... + β₂₈V28 + βₐAmount) 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3272" y="2240280"/>
            <a:ext cx="594360" cy="594360"/>
          </a:xfrm>
          <a:prstGeom prst="ellipse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9077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2148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9544" y="2240280"/>
            <a:ext cx="594360" cy="594360"/>
          </a:xfrm>
          <a:prstGeom prst="ellipse">
            <a:avLst/>
          </a:prstGeom>
          <a:solidFill>
            <a:srgbClr val="E8A217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87752" y="29077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87752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18304" y="2148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85816" y="2240280"/>
            <a:ext cx="594360" cy="59436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29077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94576" y="2148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62088" y="2240280"/>
            <a:ext cx="594360" cy="594360"/>
          </a:xfrm>
          <a:prstGeom prst="ellipse">
            <a:avLst/>
          </a:prstGeom>
          <a:solidFill>
            <a:srgbClr val="EF4444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29077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84.9%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0296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822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38404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Positives: 406  |  False Positives: 59
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Negatives: 86  |  True Negatives: 284,256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B2A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4133088"/>
            <a:ext cx="3977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0.974 — Model demonstrates excellent discriminating power between fraud and legitimate transactions across all classification thresholds.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methods provided robust, interpretable fraud detection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566928" cy="658368"/>
          </a:xfrm>
          <a:prstGeom prst="roundRect">
            <a:avLst>
              <a:gd name="adj" fmla="val 16129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6187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33502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extreme class imbalance (0.17% fraud) requiring SMOTE over-sampling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6654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66544"/>
            <a:ext cx="566928" cy="658368"/>
          </a:xfrm>
          <a:prstGeom prst="roundRect">
            <a:avLst>
              <a:gd name="adj" fmla="val 16129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66544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2139696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quantified fraud probability using PCA-transformed features V1–V28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71216"/>
            <a:ext cx="566928" cy="658368"/>
          </a:xfrm>
          <a:prstGeom prst="roundRect">
            <a:avLst>
              <a:gd name="adj" fmla="val 16129"/>
            </a:avLst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71216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294436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confirmed fraud &amp; legitimate transaction amounts differ significantly (p &lt; 0.0001)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75888"/>
            <a:ext cx="566928" cy="658368"/>
          </a:xfrm>
          <a:prstGeom prst="roundRect">
            <a:avLst>
              <a:gd name="adj" fmla="val 16129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7588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374904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achieved AUC = 0.974, Precision 87.3%, Recall 82.6%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507992"/>
            <a:ext cx="8229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Scope:  Random Forest, XGBoost, and Deep Learning models can further improve recall and reduce false negatives in production systems.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E8A217">
              <a:alpha val="10000"/>
            </a:srgbClr>
          </a:solidFill>
          <a:ln w="6350">
            <a:solidFill>
              <a:srgbClr val="E8A217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74320"/>
            <a:ext cx="137160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| 25MT1306E | KL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127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84048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886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0" y="384048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0" y="3886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4320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84048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3886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75488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384048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3886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665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KL University</dc:creator>
  <cp:lastModifiedBy>KL University</cp:lastModifiedBy>
  <cp:revision>1</cp:revision>
  <dcterms:created xsi:type="dcterms:W3CDTF">2026-06-25T03:16:57Z</dcterms:created>
  <dcterms:modified xsi:type="dcterms:W3CDTF">2026-06-25T03:16:57Z</dcterms:modified>
</cp:coreProperties>
</file>